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Hanken Grotesk"/>
      <p:regular r:id="rId201314"/>
    </p:embeddedFont>
    <p:embeddedFont>
      <p:font typeface="Hanken Grotesk SemiBold"/>
      <p:regular r:id="rId201315"/>
    </p:embeddedFont>
    <p:embeddedFont>
      <p:font typeface="Hanken Grotesk Bold"/>
      <p:regular r:id="rId201316"/>
    </p:embeddedFont>
    <p:embeddedFont>
      <p:font typeface="Urbanist"/>
      <p:regular r:id="rId201317"/>
    </p:embeddedFont>
    <p:embeddedFont>
      <p:font typeface="Urbanist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3B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3B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030" y="1169353"/>
            <a:ext cx="826749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SHOPPING BEHAVIOR / LEADERSHIP 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81030" y="1488380"/>
            <a:ext cx="7657908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Customer shopping behavior:</a:t>
            </a:r>
            <a:endParaRPr lang="en-US" sz="5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$60 center of gravity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81030" y="3511173"/>
            <a:ext cx="765790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Where the assortment is healthy, where mix is concentrated, and which merchandising moves are most actionable.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1030" y="5766753"/>
            <a:ext cx="560056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DESCRIPTIVE READOUT · CATEGORY, SEASON &amp; ITEM MIX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01 — CATEGORY MIX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0094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Category mix is broad, but clothing carries the business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387600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Clothing and accessories together make up the clear majority of purchases.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2807792"/>
            <a:ext cx="355571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Purchases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201392"/>
            <a:ext cx="3555713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Clothing: 1,737 purchases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Accessories: 1,240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Footwear: 599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Outerwear: 324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0090" y="2953841"/>
            <a:ext cx="5714857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70090" y="5155069"/>
            <a:ext cx="7721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Purchases by category · 3,900 purchase records in the supplied file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77796" y="6466185"/>
            <a:ext cx="364689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shopping behavior: the $60 center of gravity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334367" y="6466185"/>
            <a:ext cx="67933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— BASKET VALUE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0094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Spend is remarkably flat across categories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441277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category mix changes volume more than basket value.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007717"/>
            <a:ext cx="5460863" cy="241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335647"/>
            <a:ext cx="772140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Category averages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026199" y="2849920"/>
            <a:ext cx="416549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AVERAGE PURCHASE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6199" y="3168749"/>
            <a:ext cx="355601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$59.76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8026199" y="3922077"/>
            <a:ext cx="416549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Overall average purchase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026199" y="4256782"/>
            <a:ext cx="3556010" cy="19050"/>
          </a:xfrm>
          <a:prstGeom prst="roundRect">
            <a:avLst>
              <a:gd name="adj" fmla="val 49999"/>
            </a:avLst>
          </a:prstGeom>
          <a:solidFill>
            <a:srgbClr val="6E3A4C"/>
          </a:solidFill>
          <a:ln/>
        </p:spPr>
      </p:sp>
      <p:sp>
        <p:nvSpPr>
          <p:cNvPr id="11" name="Text 8"/>
          <p:cNvSpPr/>
          <p:nvPr/>
        </p:nvSpPr>
        <p:spPr>
          <a:xfrm>
            <a:off x="8026199" y="4424462"/>
            <a:ext cx="416549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Footwear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$60.26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26199" y="4778077"/>
            <a:ext cx="416549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Clothing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$60.03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26199" y="5131495"/>
            <a:ext cx="416549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Accessories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$59.84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26199" y="5485110"/>
            <a:ext cx="416549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Outerwear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$57.17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26199" y="5839480"/>
            <a:ext cx="416549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Category spread: $3.09 from highest to lowest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77796" y="6466185"/>
            <a:ext cx="364689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shopping behavior: the $60 center of gravity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334367" y="6466185"/>
            <a:ext cx="67933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— SEASONALITY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0094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Fall is the strongest selling season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717080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Fall outperforms summer by $3.15 on average.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39231"/>
            <a:ext cx="5460863" cy="279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448161"/>
            <a:ext cx="772140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Average purchase amount by season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026199" y="2351980"/>
            <a:ext cx="3556010" cy="3510260"/>
          </a:xfrm>
          <a:prstGeom prst="roundRect">
            <a:avLst>
              <a:gd name="adj" fmla="val 760"/>
            </a:avLst>
          </a:prstGeom>
          <a:solidFill>
            <a:srgbClr val="3B1621"/>
          </a:solidFill>
          <a:ln/>
        </p:spPr>
      </p:sp>
      <p:sp>
        <p:nvSpPr>
          <p:cNvPr id="8" name="Text 5"/>
          <p:cNvSpPr/>
          <p:nvPr/>
        </p:nvSpPr>
        <p:spPr>
          <a:xfrm>
            <a:off x="8254595" y="2581434"/>
            <a:ext cx="37086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PLANNING SIGNAL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54595" y="2871688"/>
            <a:ext cx="309902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fall as the anchor for larger seasonal stories and bundles.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7796" y="6466185"/>
            <a:ext cx="364689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shopping behavior: the $60 center of gravity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334367" y="6466185"/>
            <a:ext cx="67933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— ITEM WINNERS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0094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Product winners are distributed, not concentrated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387600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top five item types sit within a narrow $1.77 band.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182342"/>
            <a:ext cx="7467413" cy="21655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450046"/>
            <a:ext cx="807699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items by average purchase amount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381592" y="2795091"/>
            <a:ext cx="3200419" cy="3068935"/>
          </a:xfrm>
          <a:prstGeom prst="roundRect">
            <a:avLst>
              <a:gd name="adj" fmla="val 869"/>
            </a:avLst>
          </a:prstGeom>
          <a:solidFill>
            <a:srgbClr val="3B1621"/>
          </a:solidFill>
          <a:ln/>
        </p:spPr>
      </p:sp>
      <p:sp>
        <p:nvSpPr>
          <p:cNvPr id="8" name="Text 5"/>
          <p:cNvSpPr/>
          <p:nvPr/>
        </p:nvSpPr>
        <p:spPr>
          <a:xfrm>
            <a:off x="8610087" y="3024545"/>
            <a:ext cx="335301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MERCHANDISING READ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10087" y="3314799"/>
            <a:ext cx="274342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Prioritize a portfolio of winners instead of a single hero SKU.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7796" y="6466185"/>
            <a:ext cx="364689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shopping behavior: the $60 center of gravity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334367" y="6466185"/>
            <a:ext cx="67933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— WHAT TO OPTIMIZE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0094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Merchandising should optimize mix and timing, not chase price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387600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data points to where to place attention, not where to force a higher ticket.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95091"/>
            <a:ext cx="444489" cy="44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356967"/>
            <a:ext cx="533396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Protect scale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09585" y="3750469"/>
            <a:ext cx="59435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Clothing and accessories provide the scale.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45" y="2795091"/>
            <a:ext cx="444489" cy="444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48045" y="3356967"/>
            <a:ext cx="533396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Time the story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248045" y="3750469"/>
            <a:ext cx="59435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Fall is the clearest seasonal upside.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304010"/>
            <a:ext cx="444489" cy="444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9585" y="4865688"/>
            <a:ext cx="533396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Build the basket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609585" y="5259288"/>
            <a:ext cx="59435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Footwear is a useful cross-sell and basket-building lane.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045" y="4304010"/>
            <a:ext cx="444489" cy="444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48045" y="4865688"/>
            <a:ext cx="533396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Hold the line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6248045" y="5259288"/>
            <a:ext cx="59435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Average spend stays close to $60 across categories.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77796" y="6466185"/>
            <a:ext cx="364689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shopping behavior: the $60 center of gravity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1334367" y="6466185"/>
            <a:ext cx="67933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98398"/>
            <a:ext cx="718811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— NEXT PLANNING CYCLE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487939"/>
            <a:ext cx="6578535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Three moves for the next planning cycle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975445"/>
            <a:ext cx="718811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Turn the readout into a sharper assortment and campaign plan.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4792" y="2347416"/>
            <a:ext cx="80871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1621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631877"/>
            <a:ext cx="6578535" cy="19050"/>
          </a:xfrm>
          <a:prstGeom prst="roundRect">
            <a:avLst>
              <a:gd name="adj" fmla="val 49999"/>
            </a:avLst>
          </a:prstGeom>
          <a:solidFill>
            <a:srgbClr val="3B1621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770188"/>
            <a:ext cx="657853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Build fall stories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3163788"/>
            <a:ext cx="718811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Center larger seasonal stories on clothing plus footwear pairings.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4792" y="3681809"/>
            <a:ext cx="80871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1621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3966270"/>
            <a:ext cx="6578535" cy="19050"/>
          </a:xfrm>
          <a:prstGeom prst="roundRect">
            <a:avLst>
              <a:gd name="adj" fmla="val 49999"/>
            </a:avLst>
          </a:prstGeom>
          <a:solidFill>
            <a:srgbClr val="3B1621"/>
          </a:solidFill>
          <a:ln/>
        </p:spPr>
      </p:sp>
      <p:sp>
        <p:nvSpPr>
          <p:cNvPr id="11" name="Text 9"/>
          <p:cNvSpPr/>
          <p:nvPr/>
        </p:nvSpPr>
        <p:spPr>
          <a:xfrm>
            <a:off x="609585" y="4104680"/>
            <a:ext cx="657853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Protect breadth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9585" y="4498181"/>
            <a:ext cx="718811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Keep a portfolio of top item families rather than over-indexing on one SKU.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4792" y="5016401"/>
            <a:ext cx="80871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1621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585" y="5300663"/>
            <a:ext cx="6578535" cy="19050"/>
          </a:xfrm>
          <a:prstGeom prst="roundRect">
            <a:avLst>
              <a:gd name="adj" fmla="val 49999"/>
            </a:avLst>
          </a:prstGeom>
          <a:solidFill>
            <a:srgbClr val="3B1621"/>
          </a:solidFill>
          <a:ln/>
        </p:spPr>
      </p:sp>
      <p:sp>
        <p:nvSpPr>
          <p:cNvPr id="15" name="Text 13"/>
          <p:cNvSpPr/>
          <p:nvPr/>
        </p:nvSpPr>
        <p:spPr>
          <a:xfrm>
            <a:off x="609585" y="5439073"/>
            <a:ext cx="657853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Weight the plan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9585" y="5832574"/>
            <a:ext cx="657853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category volume and seasonal spend together to set inventory and campaign weight.</a:t>
            </a:r>
            <a:endParaRPr lang="en-US" sz="14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090" cy="6858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7796" y="6466185"/>
            <a:ext cx="364689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shopping behavior: the $60 center of gravity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55933" y="6466185"/>
            <a:ext cx="67933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— DATA NOTES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0094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Data notes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717080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descriptive read of the supplied customer shopping behavior file.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124770"/>
          <a:ext cx="10972526" cy="914400"/>
        </p:xfrm>
        <a:graphic>
          <a:graphicData uri="http://schemas.openxmlformats.org/drawingml/2006/table">
            <a:tbl>
              <a:tblPr/>
              <a:tblGrid>
                <a:gridCol w="3072232"/>
                <a:gridCol w="7900294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Field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Note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Coverage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3,900 purchase records across 50 U.S. states.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Available fields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Category, item, season, spend, rating, subscription status, payment method, and purchase frequency.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Interpretation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Figures shown are descriptive averages from the supplied file, not causal estimates.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9585" y="4128889"/>
            <a:ext cx="10972526" cy="996950"/>
          </a:xfrm>
          <a:prstGeom prst="roundRect">
            <a:avLst>
              <a:gd name="adj" fmla="val 2675"/>
            </a:avLst>
          </a:prstGeom>
          <a:solidFill>
            <a:srgbClr val="3B1621"/>
          </a:solidFill>
          <a:ln/>
        </p:spPr>
      </p:sp>
      <p:sp>
        <p:nvSpPr>
          <p:cNvPr id="7" name="Text 4"/>
          <p:cNvSpPr/>
          <p:nvPr/>
        </p:nvSpPr>
        <p:spPr>
          <a:xfrm>
            <a:off x="837981" y="4358243"/>
            <a:ext cx="111251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37981" y="4648498"/>
            <a:ext cx="111251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shopping behavior dataset · descriptive analysis for planning use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7796" y="6466185"/>
            <a:ext cx="364689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shopping behavior: the $60 center of gravity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334367" y="6466185"/>
            <a:ext cx="67933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2026-10-16T18:22:39Z</dcterms:created>
  <dcterms:modified xsi:type="dcterms:W3CDTF">2026-10-16T18:22:39Z</dcterms:modified>
</cp:coreProperties>
</file>